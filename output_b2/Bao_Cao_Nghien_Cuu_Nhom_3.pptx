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80160"/>
            <a:ext cx="164592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D9488"/>
                </a:solidFill>
                <a:latin typeface="Segoe UI"/>
              </a:defRPr>
            </a:pPr>
            <a:r>
              <a:t>BÁO CÁO NGHIÊN CỨU NHÓM 3</a:t>
            </a:r>
          </a:p>
          <a:p>
            <a:pPr>
              <a:spcAft>
                <a:spcPts val="18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Ước lượng Story Point trong Agile &amp; Đánh giá Rủi ro Data Leakage từ Jira Change Log</a:t>
            </a:r>
          </a:p>
          <a:p>
            <a:pPr>
              <a:spcAft>
                <a:spcPts val="38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Nghiên cứu TAWOS Dataset, Tái lập GPT2SP và Thiết lập Pipeline Ước lượng An toàn Thời gian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Thực hiện: Nhóm 3 (Đức Hiệu &amp; Đức Huy) | Đề tài NCKH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t>Chương I. Đặt Vấn Đề &amp; Định Nghĩa Nhiệm Vụ (Task Definition v1)</a:t>
            </a:r>
          </a:p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Phân định rõ ràng thời điểm ước lượng (Estimation-time) để ngăn chặn Data Leakage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7548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3A8A"/>
                </a:solidFill>
                <a:latin typeface="Segoe UI"/>
              </a:defRPr>
            </a:pPr>
            <a:r>
              <a:t>📌 Định Nghĩa Nhiệm Vụ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1E3A8A"/>
                </a:solidFill>
              </a:rPr>
              <a:t>Task Goal: </a:t>
            </a:r>
            <a:r>
              <a:rPr sz="1250">
                <a:solidFill>
                  <a:srgbClr val="1E293B"/>
                </a:solidFill>
              </a:rPr>
              <a:t>Dự báo Story Point ban đầu (Initial SP) tại mốc SP_Estimation_Date cho một Jira Issue.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1E3A8A"/>
                </a:solidFill>
              </a:rPr>
              <a:t>Target User: </a:t>
            </a:r>
            <a:r>
              <a:rPr sz="1250">
                <a:solidFill>
                  <a:srgbClr val="1E293B"/>
                </a:solidFill>
              </a:rPr>
              <a:t>Hỗ trợ Product Owner (PO) và Scrum Team trong Sprint Planning.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16A34A"/>
                </a:solidFill>
              </a:rPr>
              <a:t>Input Rule HỢP LỆ: </a:t>
            </a:r>
            <a:r>
              <a:rPr sz="1250">
                <a:solidFill>
                  <a:srgbClr val="1E293B"/>
                </a:solidFill>
              </a:rPr>
              <a:t>Chỉ dùng thông tin thực sự có tại thời điểm ước lượng (Initial Summary, Description, Priority).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DC2626"/>
                </a:solidFill>
              </a:rPr>
              <a:t>Input Rule CẤM DÙNG: </a:t>
            </a:r>
            <a:r>
              <a:rPr sz="1250">
                <a:solidFill>
                  <a:srgbClr val="1E293B"/>
                </a:solidFill>
              </a:rPr>
              <a:t>Trạng thái Closed, Resolution Date, Code Snippet và Text bổ sung sau khi làm xong task.</a:t>
            </a:r>
          </a:p>
        </p:txBody>
      </p:sp>
      <p:pic>
        <p:nvPicPr>
          <p:cNvPr id="5" name="Picture 4" descr="timeline_lea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5790895" cy="28688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t>Chương II. Tổng Quan Tài Liệu (Literature Review)</a:t>
            </a:r>
          </a:p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Ma trận tổng hợp 7 bài báo khoa học nền tảng &amp; các bài nghiên cứu gần nhất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31520"/>
                <a:gridCol w="2286000"/>
                <a:gridCol w="2011680"/>
                <a:gridCol w="1463040"/>
                <a:gridCol w="2224735"/>
              </a:tblGrid>
              <a:tr h="60579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Citation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Dataset &amp; GT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Split &amp; Metric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Bài học / Rủi ro Leakage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Tawosi et al. (IEEE TSE)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TAWOS (44 repos, 31.9k issues, SP)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Benchmark Deep-SE, TF-IDF+SVM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Within &amp; Cross-project, MAE/MdAE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Bài báo nền tảng công bố TAWOS &amp; chỉ ra thách thức cross-project.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Fu &amp; Tantithamthavorn (GPT2SP)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TAWOS (Spring XD 3.526 issues, SP)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GPT2SP (GPT-2 + MLP regression)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60/20/20 Chronological, MAE=0.96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Paper tái lập chính của nhóm; dùng Title đơn giản để ước lượng.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Pasuksmit et al. (SLR)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Tổng quan Agile Effort Estimation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Systematic Literature Review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Tóm tắt rủi ro dữ liệu thực tế và tính chủ quan của Story Point.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Kapoor &amp; Narayanan (Patterns)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Nghiên cứu về ML Leakage Crisis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Leakage Taxonomy &amp; Audit Protocol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Cung cấp khung lý thuyết cảnh báo Data Leakage &amp; Reproducibility Crisis.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Yalçıner et al. (App. Sci.)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Jira Open-Source (Spring XD, Mesos...)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CatBoost, LightGBM, XGBoost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Random Cross-Validation, MAE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Vẫn dùng Random Split, tiềm ẩn rò rỉ dữ liệu chuỗi thời gian.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Wijaya et al. (ICoCICs)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Merged Jira CSVs (3.544 rows)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Sentence-Transformers +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Chronological Split, 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Kế thừa kỹ thuật embedding hiện đại kết hợp mô hình Ensemble.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Choetkiertikul et al. (TSE)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2019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16 Agile Projects (23k issues)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Deep-SE (LSTM + GRU)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Within &amp; Cross-project, MAE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Tiên phong ứng dụng Mạng học sâu (Deep Learning) cho Story Point.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t>Chương III. Dataset Card v1: TAWOS Dataset &amp; CSDL Quan Hệ</a:t>
            </a:r>
          </a:p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Hồ sơ kỹ thuật về bộ dữ liệu TAWOS và sơ đồ kiến trúc các bảng CSDL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1148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E3A8A"/>
                </a:solidFill>
                <a:latin typeface="Segoe UI"/>
              </a:defRPr>
            </a:pPr>
            <a:r>
              <a:t>📋 Tổng Quan TAWOS Dataset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3A8A"/>
                </a:solidFill>
              </a:rPr>
              <a:t>Nguồn &amp; Tác giả: </a:t>
            </a:r>
            <a:r>
              <a:rPr sz="1200">
                <a:solidFill>
                  <a:srgbClr val="1E293B"/>
                </a:solidFill>
              </a:rPr>
              <a:t>SOLAR Group, UCL (Tawosi et al., IEEE TSE 2022).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3A8A"/>
                </a:solidFill>
              </a:rPr>
              <a:t>Raw TAWOS: </a:t>
            </a:r>
            <a:r>
              <a:rPr sz="1200">
                <a:solidFill>
                  <a:srgbClr val="1E293B"/>
                </a:solidFill>
              </a:rPr>
              <a:t>44 dự án mã nguồn mở, &gt;500.000+ issues.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3A8A"/>
                </a:solidFill>
              </a:rPr>
              <a:t>Tawosi Benchmark: </a:t>
            </a:r>
            <a:r>
              <a:rPr sz="1200">
                <a:solidFill>
                  <a:srgbClr val="1E293B"/>
                </a:solidFill>
              </a:rPr>
              <a:t>26 dự án tiêu chuẩn, 31.960 issues đã lọc.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3A8A"/>
                </a:solidFill>
              </a:rPr>
              <a:t>Local EDA Set: </a:t>
            </a:r>
            <a:r>
              <a:rPr sz="1200">
                <a:solidFill>
                  <a:srgbClr val="1E293B"/>
                </a:solidFill>
              </a:rPr>
              <a:t>39 dự án trong file SQLite hiện tại.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3A8A"/>
                </a:solidFill>
              </a:rPr>
              <a:t>Đặc điểm CSDL: </a:t>
            </a:r>
            <a:r>
              <a:rPr sz="1200">
                <a:solidFill>
                  <a:srgbClr val="1E293B"/>
                </a:solidFill>
              </a:rPr>
              <a:t>CSDL quan hệ 6 bảng. Bảng CHANGELOG cho phép khôi phục lịch sử thuộc tính tại estimation time.</a:t>
            </a:r>
          </a:p>
        </p:txBody>
      </p:sp>
      <p:pic>
        <p:nvPicPr>
          <p:cNvPr id="5" name="Picture 4" descr="db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6400800" cy="3345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t>Chương IV. Phân Tích Khám Phá Dữ Liệu (EDA Cơ Bản)</a:t>
            </a:r>
          </a:p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Thống kê chỉ số cốt lõi và biểu đồ phân bố Story Point trên TAWOS v1.1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24688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2286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D9488"/>
                </a:solidFill>
                <a:latin typeface="Segoe UI"/>
              </a:defRPr>
            </a:pPr>
            <a:r>
              <a:t>39</a:t>
            </a:r>
          </a:p>
          <a:p>
            <a:pPr>
              <a:defRPr sz="1100" b="1">
                <a:solidFill>
                  <a:srgbClr val="475569"/>
                </a:solidFill>
                <a:latin typeface="Segoe UI"/>
              </a:defRPr>
            </a:pPr>
            <a:r>
              <a:t>Số Dự Án (Projects)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83863" y="1280160"/>
            <a:ext cx="24688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75303" y="1325880"/>
            <a:ext cx="2286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t>458.232</a:t>
            </a:r>
          </a:p>
          <a:p>
            <a:pPr>
              <a:defRPr sz="1100" b="1">
                <a:solidFill>
                  <a:srgbClr val="475569"/>
                </a:solidFill>
                <a:latin typeface="Segoe UI"/>
              </a:defRPr>
            </a:pPr>
            <a:r>
              <a:t>Tổng Số Issues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7" y="1280160"/>
            <a:ext cx="24688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7647" y="1325880"/>
            <a:ext cx="2286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  <a:latin typeface="Segoe UI"/>
              </a:defRPr>
            </a:pPr>
            <a:r>
              <a:t>63.011</a:t>
            </a:r>
          </a:p>
          <a:p>
            <a:pPr>
              <a:defRPr sz="1100" b="1">
                <a:solidFill>
                  <a:srgbClr val="475569"/>
                </a:solidFill>
                <a:latin typeface="Segoe UI"/>
              </a:defRPr>
            </a:pPr>
            <a:r>
              <a:t>Issues Có Story Point (13,75%)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88552" y="1280160"/>
            <a:ext cx="24688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79992" y="1325880"/>
            <a:ext cx="2286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6A34A"/>
                </a:solidFill>
                <a:latin typeface="Segoe UI"/>
              </a:defRPr>
            </a:pPr>
            <a:r>
              <a:t>447.356</a:t>
            </a:r>
          </a:p>
          <a:p>
            <a:pPr>
              <a:defRPr sz="1100" b="1">
                <a:solidFill>
                  <a:srgbClr val="475569"/>
                </a:solidFill>
                <a:latin typeface="Segoe UI"/>
              </a:defRPr>
            </a:pPr>
            <a:r>
              <a:t>Issues Có Changelog</a:t>
            </a:r>
          </a:p>
        </p:txBody>
      </p:sp>
      <p:pic>
        <p:nvPicPr>
          <p:cNvPr id="11" name="Picture 10" descr="eda_sp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06040"/>
            <a:ext cx="10728655" cy="47697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t>Chương IV. EDA Chuyên Sâu Nhóm 3: Rủi Ro Leakage Văn Bản</a:t>
            </a:r>
          </a:p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Bằng chứng thực nghiệm về biến động văn bản và độ trễ sửa đổi sau mốc Estimation</a:t>
            </a:r>
          </a:p>
        </p:txBody>
      </p:sp>
      <p:pic>
        <p:nvPicPr>
          <p:cNvPr id="3" name="Picture 2" descr="eda_leakage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295762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98079" y="1371600"/>
            <a:ext cx="396209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0" y="1554480"/>
            <a:ext cx="35963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E3A8A"/>
                </a:solidFill>
                <a:latin typeface="Segoe UI"/>
              </a:defRPr>
            </a:pPr>
            <a:r>
              <a:t>🔍 Insights &amp; Case Studies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DC2626"/>
                </a:solidFill>
              </a:rPr>
              <a:t>11.969 Issues (~19%): </a:t>
            </a:r>
            <a:r>
              <a:rPr sz="1150">
                <a:solidFill>
                  <a:srgbClr val="1E293B"/>
                </a:solidFill>
              </a:rPr>
              <a:t>Có văn bản Title/Description bị thay đổi sau mốc gán Story Point.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1E3A8A"/>
                </a:solidFill>
              </a:rPr>
              <a:t>51.485 Lượt Cập Nhật: </a:t>
            </a:r>
            <a:r>
              <a:rPr sz="1150">
                <a:solidFill>
                  <a:srgbClr val="1E293B"/>
                </a:solidFill>
              </a:rPr>
              <a:t>Tổng số lần sửa văn bản post-estimation.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1E3A8A"/>
                </a:solidFill>
              </a:rPr>
              <a:t>Trung vị Độ Trễ 55,3h: </a:t>
            </a:r>
            <a:r>
              <a:rPr sz="1150">
                <a:solidFill>
                  <a:srgbClr val="1E293B"/>
                </a:solidFill>
              </a:rPr>
              <a:t>25% sửa trong 0,38h và 75% sửa trong 34,88 ngày.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1E3A8A"/>
                </a:solidFill>
              </a:rPr>
              <a:t>Case XD-3765: </a:t>
            </a:r>
            <a:r>
              <a:rPr sz="1150">
                <a:solidFill>
                  <a:srgbClr val="1E293B"/>
                </a:solidFill>
              </a:rPr>
              <a:t>Title ban đầu được rút gọn và thêm từ khóa giải pháp sau khi xong task.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1E3A8A"/>
                </a:solidFill>
              </a:rPr>
              <a:t>Case XD-3754 &amp; 3750: </a:t>
            </a:r>
            <a:r>
              <a:rPr sz="1150">
                <a:solidFill>
                  <a:srgbClr val="1E293B"/>
                </a:solidFill>
              </a:rPr>
              <a:t>Liên tục cập nhật Title và Fix Versions trong vòng đời Sprint.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DC2626"/>
                </a:solidFill>
              </a:rPr>
              <a:t>⚠️ Kết Luận EDA: </a:t>
            </a:r>
            <a:r>
              <a:rPr sz="1150">
                <a:solidFill>
                  <a:srgbClr val="1E293B"/>
                </a:solidFill>
              </a:rPr>
              <a:t>Không thể coi Final Title/Description là thông tin sẵn có tại planning time!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t>Chương V. Kết Quả Tái Lập (Reproduction Candidate: GPT2SP)</a:t>
            </a:r>
          </a:p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Tái lập thực nghiệm paper Fu et al. (IEEE TSE 2023) trên bộ dữ liệu Spring XD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7548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E3A8A"/>
                </a:solidFill>
                <a:latin typeface="Segoe UI"/>
              </a:defRPr>
            </a:pPr>
            <a:r>
              <a:t>⚙️ Thiết Lập &amp; Đánh Giá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3A8A"/>
                </a:solidFill>
              </a:rPr>
              <a:t>Dataset &amp; Split: </a:t>
            </a:r>
            <a:r>
              <a:rPr sz="1200">
                <a:solidFill>
                  <a:srgbClr val="1E293B"/>
                </a:solidFill>
              </a:rPr>
              <a:t>Spring XD (3.526 issues). Split: 60/20/20 Chronological (2.115 Train, 705 Val, 706 Test).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6A34A"/>
                </a:solidFill>
              </a:rPr>
              <a:t>Baseline Median: </a:t>
            </a:r>
            <a:r>
              <a:rPr sz="1200">
                <a:solidFill>
                  <a:srgbClr val="1E293B"/>
                </a:solidFill>
              </a:rPr>
              <a:t>MAE = 1.7153 -&gt; KHỚP hoàn hảo với paper gốc (1.72) sau khi làm tròn.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6A34A"/>
                </a:solidFill>
              </a:rPr>
              <a:t>GPT2SP Checkpoint: </a:t>
            </a:r>
            <a:r>
              <a:rPr sz="1200">
                <a:solidFill>
                  <a:srgbClr val="1E293B"/>
                </a:solidFill>
              </a:rPr>
              <a:t>MAE = 1.7330 -&gt; CHƯA KHỚP với paper (0.96) và kém cả Median baseline.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3A8A"/>
                </a:solidFill>
              </a:rPr>
              <a:t>Nguyên Nhân Sai Lệch: </a:t>
            </a:r>
            <a:r>
              <a:rPr sz="1200">
                <a:solidFill>
                  <a:srgbClr val="1E293B"/>
                </a:solidFill>
              </a:rPr>
              <a:t>Xung đột phiên bản PyTorch/Transformers cũ và sự khác biệt giữa paper (Title+Description) với notebook công khai (chỉ dùng Title).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3A8A"/>
                </a:solidFill>
              </a:rPr>
              <a:t>Tính Tái Lập Khách Quan: </a:t>
            </a:r>
            <a:r>
              <a:rPr sz="1200">
                <a:solidFill>
                  <a:srgbClr val="1E293B"/>
                </a:solidFill>
              </a:rPr>
              <a:t>Nhóm giữ nguyên sai lệch như một báo cáo reproducible khoa học trung thực.</a:t>
            </a:r>
          </a:p>
        </p:txBody>
      </p:sp>
      <p:pic>
        <p:nvPicPr>
          <p:cNvPr id="5" name="Picture 4" descr="reproduction_gpt2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5790895" cy="31882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t>Chương VI &amp; VII. Quy Trình Thực Nghiệm &amp; Kết Luận</a:t>
            </a:r>
          </a:p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Sơ đồ kiến trúc Leakage-Safe Pipeline 8 bước và định hướng đóng góp nghiên cứu</a:t>
            </a:r>
          </a:p>
        </p:txBody>
      </p:sp>
      <p:pic>
        <p:nvPicPr>
          <p:cNvPr id="3" name="Picture 2" descr="pipelin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728655" cy="505484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🎯 Đóng Góp Đã Hoàn Thành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E293B"/>
                </a:solidFill>
              </a:rPr>
              <a:t>• Hoàn thiện trọn vẹn Task Definition v1, Dataset Card v1 và Literature Matrix (7 bài).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E293B"/>
                </a:solidFill>
              </a:rPr>
              <a:t>• Thực hiện EDA chi tiết chứng minh rủi ro Data Leakage thực tế trên 458.232 issues TAWOS.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E293B"/>
                </a:solidFill>
              </a:rPr>
              <a:t>• Tái lập thành công Median baseline &amp; đánh giá checkpoint GPT2SP.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14800"/>
            <a:ext cx="5242255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4206240"/>
            <a:ext cx="4876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  <a:latin typeface="Segoe UI"/>
              </a:defRPr>
            </a:pPr>
            <a:r>
              <a:t>🚀 Định Hướng Tiếp Theo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E293B"/>
                </a:solidFill>
              </a:rPr>
              <a:t>1. Hoàn thiện Leakage-Safe Pipeline để tái lập snapshot tại SP_Estimation_Date.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E293B"/>
                </a:solidFill>
              </a:rPr>
              <a:t>2. So sánh đối chứng trên 2 setting: Final Snapshot vs Planning-time Snapshot.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E293B"/>
                </a:solidFill>
              </a:rPr>
              <a:t>3. Đánh giá MAE/MdAE theo từng dự án riêng biệt kèm kiểm định paired bootstrap.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